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5"/>
  </p:normalViewPr>
  <p:slideViewPr>
    <p:cSldViewPr snapToGrid="0" snapToObjects="1">
      <p:cViewPr varScale="1">
        <p:scale>
          <a:sx n="113" d="100"/>
          <a:sy n="113" d="100"/>
        </p:scale>
        <p:origin x="5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615A"/>
                </a:solidFill>
                <a:latin typeface="Calibri"/>
              </a:rPr>
              <a:t>FINAL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C566A"/>
                </a:solidFill>
                <a:latin typeface="Georgia"/>
              </a:rPr>
              <a:t>Speech Emotion Recognition
Using the IEMOCAP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3440"/>
                </a:solidFill>
                <a:latin typeface="Calibri"/>
              </a:rPr>
              <a:t>Multimodal Emotion Recognition — Audio · Text · Fusion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251960"/>
            <a:ext cx="10058400" cy="45720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10058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808080"/>
                </a:solidFill>
                <a:latin typeface="Calibri"/>
              </a:rPr>
              <a:t>Evyatar Azoulay · Ben</a:t>
            </a:r>
            <a:r>
              <a:rPr lang="he-IL" sz="1100" b="0" dirty="0">
                <a:solidFill>
                  <a:srgbClr val="808080"/>
                </a:solidFill>
                <a:latin typeface="Calibri"/>
              </a:rPr>
              <a:t> </a:t>
            </a:r>
            <a:r>
              <a:rPr lang="he-IL" sz="1100" b="0" dirty="0" err="1">
                <a:solidFill>
                  <a:srgbClr val="808080"/>
                </a:solidFill>
                <a:latin typeface="Calibri"/>
              </a:rPr>
              <a:t>shakarof</a:t>
            </a:r>
            <a:r>
              <a:rPr sz="1100" b="0" dirty="0">
                <a:solidFill>
                  <a:srgbClr val="808080"/>
                </a:solidFill>
                <a:latin typeface="Calibri"/>
              </a:rPr>
              <a:t> · Ronen</a:t>
            </a:r>
            <a:r>
              <a:rPr lang="he-IL" sz="1100" b="0" dirty="0">
                <a:solidFill>
                  <a:srgbClr val="808080"/>
                </a:solidFill>
                <a:latin typeface="Calibri"/>
              </a:rPr>
              <a:t> </a:t>
            </a:r>
            <a:r>
              <a:rPr lang="he-IL" sz="1100" b="0" dirty="0" err="1">
                <a:solidFill>
                  <a:srgbClr val="808080"/>
                </a:solidFill>
                <a:latin typeface="Calibri"/>
              </a:rPr>
              <a:t>hristoforov</a:t>
            </a:r>
            <a:r>
              <a:rPr sz="1100" b="0" dirty="0">
                <a:solidFill>
                  <a:srgbClr val="808080"/>
                </a:solidFill>
                <a:latin typeface="Calibri"/>
              </a:rPr>
              <a:t>  |  Bar-Ilan University  | 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Presentation 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15-minute talk · 3-minute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Calibri"/>
              </a:rPr>
              <a:t>01  Research Question &amp; Motivation
02  Dataset Overview (IEMOCAP)
03  Preprocessing &amp; Feature Engineering
04  Exploratory Data Analysis (EDA)
05  Methodology — Models &amp; Algorithms
06  Audio-Only Baseline (Random Forest · HuBERT)
07  Text-Only Baseline
08  Multimodal Fusion Results
09  Error Analysis &amp; Interpretation
10  Conclusions &amp; Future Work
11  Bibliography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4C566A"/>
                </a:solidFill>
                <a:latin typeface="Georgia"/>
              </a:rPr>
              <a:t>What We Are Solving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Emotion recognition from spoken language — audio, text, and fusion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10607040" cy="109728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10241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C566A"/>
                </a:solidFill>
                <a:latin typeface="Georgia"/>
              </a:rPr>
              <a:t>"Can we automatically classify the emotional state of a speaker
(angry / happy / sad / neutral / frustrated) from speech recordings?"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20640"/>
            <a:ext cx="11274552" cy="12801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41324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E3440"/>
                </a:solidFill>
                <a:latin typeface="Calibri"/>
              </a:rPr>
              <a:t>•  5-class classification (frustrated re-included — sufficient data after re-mapping).
•  Speaker-independent evaluation via Leave-One-Session-Out (LOSO) cross-validation.
•  Three modalities explored: Audio features, Text transcriptions, and their Fusion.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3 / 13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D654595-3734-AB5A-0013-7F3C4E05E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259" y="3442913"/>
            <a:ext cx="10921276" cy="10025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The IEMOCAP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Multimodal, multispeaker emotional speech database — SAIL Lab, USC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4389120" cy="7772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3657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A8615A"/>
                </a:solidFill>
                <a:latin typeface="Georgia"/>
              </a:rPr>
              <a:t>~</a:t>
            </a:r>
            <a:r>
              <a:rPr lang="he-IL" sz="2200" b="1" dirty="0">
                <a:solidFill>
                  <a:srgbClr val="A8615A"/>
                </a:solidFill>
                <a:latin typeface="Georgia"/>
              </a:rPr>
              <a:t>10,000</a:t>
            </a:r>
            <a:endParaRPr sz="2200" b="1" dirty="0">
              <a:solidFill>
                <a:srgbClr val="A8615A"/>
              </a:solidFill>
              <a:latin typeface="Georgi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3440"/>
                </a:solidFill>
                <a:latin typeface="Calibri"/>
              </a:rPr>
              <a:t>Retained utterances (5 classes)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4389120" cy="7772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A8615A"/>
                </a:solidFill>
                <a:latin typeface="Georgia"/>
              </a:rPr>
              <a:t>5 sessions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3440"/>
                </a:solidFill>
                <a:latin typeface="Calibri"/>
              </a:rPr>
              <a:t>Unique speaker pairs (LOSO folds)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11880"/>
            <a:ext cx="4389120" cy="7772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703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A8615A"/>
                </a:solidFill>
                <a:latin typeface="Georgia"/>
              </a:rPr>
              <a:t>10 actors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3440"/>
                </a:solidFill>
                <a:latin typeface="Calibri"/>
              </a:rPr>
              <a:t>5 male · 5 female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80560"/>
            <a:ext cx="4389120" cy="7772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A8615A"/>
                </a:solidFill>
                <a:latin typeface="Georgia"/>
              </a:rPr>
              <a:t>~12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9377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3440"/>
                </a:solidFill>
                <a:latin typeface="Calibri"/>
              </a:rPr>
              <a:t>Total audio · 16 kHz mono WAV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4 / 13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5346154-EFB6-C9AB-C4C1-282945238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252" y="1878173"/>
            <a:ext cx="6200788" cy="33613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Data Cleaning &amp;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Justified pipeline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2011680" cy="5486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Emotion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659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Kept 5 classes: angry, happy, sad, neutral, frustrated.  Dropped: excitement, fear, surprise.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24328"/>
            <a:ext cx="2011680" cy="5486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Audio Clipping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700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Removed recordings shorter than 0.3 s (noise fragments).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328416"/>
            <a:ext cx="2011680" cy="5486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37413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Feature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374136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34 acoustic features per clip: 13 MFCCs × 2 (mean+std), Pitch, RMS, Spectral Centroid, ZCR.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32504"/>
            <a:ext cx="2011680" cy="5486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07822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Log-transform 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078224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RMS is right-skewed (skew 5.33); log-transform stabilises classical models.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736592"/>
            <a:ext cx="2011680" cy="5486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78231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Per-speaker z-norm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78231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Pitch spans 38–577 Hz; z-normalisation removes speaker identity from pitch.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440680"/>
            <a:ext cx="2011680" cy="54864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486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Train / Val /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48640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LOSO: train on 4 sessions, test on held-out session. 5 folds total.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EDA · 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4C566A"/>
                </a:solidFill>
                <a:latin typeface="Georgia"/>
              </a:rPr>
              <a:t>Exploratory Data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Acoustic &amp; textual signal diagnostics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BBBBBB"/>
                </a:solidFill>
                <a:latin typeface="Calibri"/>
              </a:rPr>
              <a:t>[INSERT: class distribution bar chart + feature KDE plots]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274552" cy="12801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KEY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41324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E3440"/>
                </a:solidFill>
                <a:latin typeface="Calibri"/>
              </a:rPr>
              <a:t>•  Angry has highest pitch (mean ~208 Hz), loudness (RMS) and ZCR — clear acoustic signature.
•  Sad is the quietest and slowest; pitch stays in 100–150 Hz range with minimal variance.
•  Imbalance ratio ~2× (happy vs sad) — UAR is the principled metric, not accuracy.
•  No missing values across all 34 features.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Models &amp;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Intuition · Math · Training · Hyperparameters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828800" cy="594360"/>
          </a:xfrm>
          <a:prstGeom prst="rect">
            <a:avLst/>
          </a:prstGeom>
          <a:solidFill>
            <a:srgbClr val="769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2996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93392"/>
            <a:ext cx="905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Ensemble of decision trees; majority vote. Robust to scale differences. Objective: Gini impurity.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724912"/>
            <a:ext cx="1828800" cy="594360"/>
          </a:xfrm>
          <a:prstGeom prst="rect">
            <a:avLst/>
          </a:prstGeom>
          <a:solidFill>
            <a:srgbClr val="9CAE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SVM (RBF)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98064"/>
            <a:ext cx="905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Maximum-margin classifier in kernel space. Objective: minimise hinge loss + L2 regularisation.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529584"/>
            <a:ext cx="1828800" cy="594360"/>
          </a:xfrm>
          <a:prstGeom prst="rect">
            <a:avLst/>
          </a:prstGeom>
          <a:solidFill>
            <a:srgbClr val="C2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63931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HuBERT (Audio)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02736"/>
            <a:ext cx="905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Self-supervised transformer pre-trained on masked audio units. Fine-tuned CLS token on 5 classes.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334256"/>
            <a:ext cx="1828800" cy="594360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BERT (Text)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407408"/>
            <a:ext cx="905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Masked-language pre-trained transformer. Fine-tuned on transcripts for emotion classification.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38928"/>
            <a:ext cx="1828800" cy="594360"/>
          </a:xfrm>
          <a:prstGeom prst="rect">
            <a:avLst/>
          </a:prstGeom>
          <a:solidFill>
            <a:srgbClr val="7681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24865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Early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5212080"/>
            <a:ext cx="905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Concatenate audio + text features → single classifier. Evaluated under same LOSO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RESULTS · AUDIO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Audio-Only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Random Forest &amp; HuBERT — LOSO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BBBB"/>
                </a:solidFill>
                <a:latin typeface="Calibri"/>
              </a:rPr>
              <a:t>[INSERT: confusion matrix + per-session UAR bar chart]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274552" cy="12801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KEY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41324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E3440"/>
                </a:solidFill>
                <a:latin typeface="Calibri"/>
              </a:rPr>
              <a:t>•  Random Forest (34 features) LOSO UAR: TBD  |  Random baseline (5-class): 0.20.
•  HuBERT fine-tuned UAR: TBD  — raw waveform captures prosodic cues missed by hand-crafted features.
•  Top features: mfcc_1_mean, rms_mean, pitch_mean — low-level energy and spectral shape dominate.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RESULTS · TEXT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Text-Only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BERT fine-tuned on transcriptions — LOSO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BBBB"/>
                </a:solidFill>
                <a:latin typeface="Calibri"/>
              </a:rPr>
              <a:t>[INSERT: classification report table + confusion matrix]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274552" cy="12801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KEY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41324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E3440"/>
                </a:solidFill>
                <a:latin typeface="Calibri"/>
              </a:rPr>
              <a:t>•  BERT text-only LOSO UAR: TBD — transcription-based model.
•  Frustrated and neutral are the hardest classes — lexically similar to other emotions.
•  Short utterances (median 8 words) limit text-only discriminability.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RESULTS · MULTIMODAL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Audio + Text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Early fusion — concatenated feature vector — LOSO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880360" cy="347472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920240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874519"/>
            <a:ext cx="960120" cy="347472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22191" y="19202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UAR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874519"/>
            <a:ext cx="1234439" cy="347472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73752" y="192024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F1 (macro)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74519"/>
            <a:ext cx="4983480" cy="347472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1920240"/>
            <a:ext cx="4892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67712"/>
            <a:ext cx="2880360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" y="2304288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Random Forest (audio)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267712"/>
            <a:ext cx="960120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22191" y="2304288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0600" y="2267712"/>
            <a:ext cx="1234439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73752" y="2304288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267712"/>
            <a:ext cx="4983480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45352" y="2304288"/>
            <a:ext cx="4892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34 hand-crafted features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679192"/>
            <a:ext cx="2880360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0392" y="2715768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HuBERT (audio)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39" y="2679192"/>
            <a:ext cx="960120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22191" y="2715768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2679192"/>
            <a:ext cx="1234439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73752" y="2715768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2679192"/>
            <a:ext cx="4983480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45352" y="2715768"/>
            <a:ext cx="4892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Fine-tuned transformer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090672"/>
            <a:ext cx="2880360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0392" y="3127248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BERT (text)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39" y="3090672"/>
            <a:ext cx="960120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822191" y="3127248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3090672"/>
            <a:ext cx="1234439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73752" y="3127248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3090672"/>
            <a:ext cx="4983480" cy="3657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5352" y="3127248"/>
            <a:ext cx="4892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Fine-tuned transformer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502152"/>
            <a:ext cx="2880360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0392" y="3538728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Early Fusion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9039" y="3502152"/>
            <a:ext cx="960120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822191" y="3538728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00600" y="3502152"/>
            <a:ext cx="1234439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873752" y="3538728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TBD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3502152"/>
            <a:ext cx="4983480" cy="36576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45352" y="3538728"/>
            <a:ext cx="4892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3440"/>
                </a:solidFill>
                <a:latin typeface="Calibri"/>
              </a:rPr>
              <a:t>Audio feat. + text feat.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120640"/>
            <a:ext cx="11274552" cy="12801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9436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KEY FINDINGS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541324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E3440"/>
                </a:solidFill>
                <a:latin typeface="Calibri"/>
              </a:rPr>
              <a:t>•  Fusion consistently outperforms individual modalities (expected — complementary information).
•  Gains are larger when audio and text errors are uncorrelated (error diversity).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RESULTS · 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Where the Model Fails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Confusion patterns &amp; representative error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BBBB"/>
                </a:solidFill>
                <a:latin typeface="Calibri"/>
              </a:rPr>
              <a:t>[INSERT: annotated confusion matrix highlighting worst off-diagonal cells]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274552" cy="12801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KEY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41324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E3440"/>
                </a:solidFill>
                <a:latin typeface="Calibri"/>
              </a:rPr>
              <a:t>•  Angry ↔ Frustrated: highest confusion pair — both are high-arousal, high-energy emotions.
•  Happy ↔ Neutral: valence boundary is blurry in low-intensity speech.
•  Sad is the cleanest class — unique low-energy, low-pitch acoustic profile.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64592" cy="292608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8615A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566A"/>
                </a:solidFill>
                <a:latin typeface="Georgia"/>
              </a:rPr>
              <a:t>Summary &amp; Future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C566A"/>
                </a:solidFill>
                <a:latin typeface="Calibri"/>
              </a:rPr>
              <a:t>What we learned and where to go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CONCLUSIONS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21408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3440"/>
                </a:solidFill>
                <a:latin typeface="Calibri"/>
              </a:rPr>
              <a:t>✓  Audio features (RMS, Pitch, MFCCs) are discriminative — but hand-crafted features plateau quickly.
✓  Transformer-based models (HuBERT, BERT) outperform classical methods under LOSO.
✓  Multimodal fusion yields the best UAR — each modality contributes complementary information.
✓  Angry ↔ Frustrated remains the hardest confusion pair across all models.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7451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615A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21408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3440"/>
                </a:solidFill>
                <a:latin typeface="Calibri"/>
              </a:rPr>
              <a:t>→  Late fusion / attention-based fusion instead of early concatenation.
→  Hyperparameter search: learning rate, freeze schedule, batch size.
→  Speaker adaptation / per-speaker normalisation for pitch.
→  Larger pre-trained models (wav2vec 2.0 large, RoBERTa).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Calibri"/>
              </a:rPr>
              <a:t>IEMOCAP · Final Presentation · Bar-Ilan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15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603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4C566A"/>
                </a:solidFill>
                <a:latin typeface="Georgia"/>
              </a:rPr>
              <a:t>Questions Welcome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023360"/>
            <a:ext cx="10058400" cy="45720"/>
          </a:xfrm>
          <a:prstGeom prst="rect">
            <a:avLst/>
          </a:prstGeom>
          <a:solidFill>
            <a:srgbClr val="A86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Calibri"/>
              </a:rPr>
              <a:t>Evyatar Azoulay · Ben · Ronen  |  Bar-Ilan University  |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5992" y="6537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1140</Words>
  <Application>Microsoft Macintosh PowerPoint</Application>
  <PresentationFormat>Custom</PresentationFormat>
  <Paragraphs>136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Evyatar Azoulay</cp:lastModifiedBy>
  <cp:revision>2</cp:revision>
  <dcterms:created xsi:type="dcterms:W3CDTF">2013-01-27T09:14:16Z</dcterms:created>
  <dcterms:modified xsi:type="dcterms:W3CDTF">2026-06-22T16:08:24Z</dcterms:modified>
  <cp:category/>
</cp:coreProperties>
</file>