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578"/>
  </p:normalViewPr>
  <p:slideViewPr>
    <p:cSldViewPr snapToGrid="0" snapToObjects="1">
      <p:cViewPr varScale="1">
        <p:scale>
          <a:sx n="89" d="100"/>
          <a:sy n="89" d="100"/>
        </p:scale>
        <p:origin x="40" y="-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615A"/>
                </a:solidFill>
                <a:latin typeface="Calibri"/>
              </a:rPr>
              <a:t>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C566A"/>
                </a:solidFill>
                <a:latin typeface="Georgia"/>
              </a:rPr>
              <a:t>Speech Emotion Recognition
Using the IEMOCAP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3440"/>
                </a:solidFill>
                <a:latin typeface="Calibri"/>
              </a:rPr>
              <a:t>Multimodal Emotion Recognition — Audio · Text · Fusion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251960"/>
            <a:ext cx="10058400" cy="45720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808080"/>
                </a:solidFill>
                <a:latin typeface="Calibri"/>
              </a:rPr>
              <a:t>Evyatar Azoulay · Ben</a:t>
            </a:r>
            <a:r>
              <a:rPr lang="he-IL" sz="1100" b="0" dirty="0">
                <a:solidFill>
                  <a:srgbClr val="808080"/>
                </a:solidFill>
                <a:latin typeface="Calibri"/>
              </a:rPr>
              <a:t> </a:t>
            </a:r>
            <a:r>
              <a:rPr lang="he-IL" sz="1100" b="0" dirty="0" err="1">
                <a:solidFill>
                  <a:srgbClr val="808080"/>
                </a:solidFill>
                <a:latin typeface="Calibri"/>
              </a:rPr>
              <a:t>shakarof</a:t>
            </a:r>
            <a:r>
              <a:rPr sz="1100" b="0" dirty="0">
                <a:solidFill>
                  <a:srgbClr val="808080"/>
                </a:solidFill>
                <a:latin typeface="Calibri"/>
              </a:rPr>
              <a:t> · Ronen</a:t>
            </a:r>
            <a:r>
              <a:rPr lang="he-IL" sz="1100" b="0" dirty="0">
                <a:solidFill>
                  <a:srgbClr val="808080"/>
                </a:solidFill>
                <a:latin typeface="Calibri"/>
              </a:rPr>
              <a:t> </a:t>
            </a:r>
            <a:r>
              <a:rPr lang="he-IL" sz="1100" b="0" dirty="0" err="1">
                <a:solidFill>
                  <a:srgbClr val="808080"/>
                </a:solidFill>
                <a:latin typeface="Calibri"/>
              </a:rPr>
              <a:t>hristoforov</a:t>
            </a:r>
            <a:r>
              <a:rPr sz="1100" b="0" dirty="0">
                <a:solidFill>
                  <a:srgbClr val="808080"/>
                </a:solidFill>
                <a:latin typeface="Calibri"/>
              </a:rPr>
              <a:t>  |  Bar-Ilan University  | 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566A"/>
                </a:solidFill>
                <a:latin typeface="Georgia"/>
              </a:rP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15-minute talk · 3-minute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Calibri"/>
              </a:rPr>
              <a:t>01  Research Question &amp; Motivation
02  Dataset Overview (IEMOCAP)
03  Preprocessing &amp; Feature Engineering
04  Exploratory Data Analysis (EDA)
05  Methodology — Models &amp; Algorithms
06  Audio-Only Baseline (Random Forest · HuBERT)
07  Text-Only Baseline
08  Multimodal Fusion Results
09  Error Analysis &amp; Interpretation
10  Conclusions &amp; Future Work
11  Bibliography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4C566A"/>
                </a:solidFill>
                <a:latin typeface="Georgia"/>
              </a:rPr>
              <a:t>What We Are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Emotion recognition from spoken language — audio, text, and fusion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10607040" cy="109728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566A"/>
                </a:solidFill>
                <a:latin typeface="Georgia"/>
              </a:rPr>
              <a:t>"Can we automatically classify the emotional state of a speaker
(angry / happy / sad / neutral / frustrated) from speech recordings?"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413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3440"/>
                </a:solidFill>
                <a:latin typeface="Calibri"/>
              </a:rPr>
              <a:t>•  5-class classification (frustrated re-included — sufficient data after re-mapping).
•  Speaker-independent evaluation via Leave-One-Session-Out (LOSO) cross-validation.
•  Three modalities explored: Audio features, Text transcriptions, and their Fusion.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3 / 13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654595-3734-AB5A-0013-7F3C4E05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59" y="3442913"/>
            <a:ext cx="10921276" cy="10025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566A"/>
                </a:solidFill>
                <a:latin typeface="Georgia"/>
              </a:rPr>
              <a:t>The IEMOCAP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Multimodal, multispeaker emotional speech database — SAIL Lab, USC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389120" cy="7772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457200" rtl="0" eaLnBrk="1" latinLnBrk="0" hangingPunct="1"/>
            <a:r>
              <a:rPr lang="en-US" sz="2200" b="1" dirty="0">
                <a:solidFill>
                  <a:srgbClr val="A8615A"/>
                </a:solidFill>
                <a:latin typeface="Georgia"/>
              </a:rPr>
              <a:t>10,039 =&gt; 9,794</a:t>
            </a:r>
            <a:endParaRPr sz="2200" b="1" dirty="0">
              <a:solidFill>
                <a:srgbClr val="A8615A"/>
              </a:solidFill>
              <a:latin typeface="Georg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440"/>
                </a:solidFill>
                <a:latin typeface="Calibri"/>
              </a:rPr>
              <a:t>Retained utterances (5 classes)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4389120" cy="7772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A8615A"/>
                </a:solidFill>
                <a:latin typeface="Georgia"/>
              </a:rPr>
              <a:t>Merge happy + excited</a:t>
            </a:r>
            <a:endParaRPr sz="2200" b="1" dirty="0">
              <a:solidFill>
                <a:srgbClr val="A8615A"/>
              </a:solidFill>
              <a:latin typeface="Georg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4543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457200" rtl="0" eaLnBrk="1" latinLnBrk="0" hangingPunct="1"/>
            <a:r>
              <a:rPr lang="en-US" sz="1100" dirty="0"/>
              <a:t>They are acoustically identical, and human taggers got them confused.</a:t>
            </a:r>
            <a:endParaRPr sz="1100" b="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4389120" cy="7772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579764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A8615A"/>
                </a:solidFill>
                <a:latin typeface="Georgia"/>
              </a:rPr>
              <a:t>Frustrated</a:t>
            </a:r>
            <a:endParaRPr sz="2200" b="1" dirty="0">
              <a:solidFill>
                <a:srgbClr val="A8615A"/>
              </a:solidFill>
              <a:latin typeface="Georg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3912513"/>
            <a:ext cx="4114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/>
              <a:t>Confusing but makes up about 30% of the data and couldn't be thrown away.</a:t>
            </a:r>
            <a:endParaRPr sz="1100" b="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4480560"/>
            <a:ext cx="4389120" cy="7772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428589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A8615A"/>
                </a:solidFill>
                <a:latin typeface="Georgia"/>
              </a:rPr>
              <a:t>UAR</a:t>
            </a:r>
            <a:endParaRPr sz="2200" b="1" dirty="0">
              <a:solidFill>
                <a:srgbClr val="A8615A"/>
              </a:solidFill>
              <a:latin typeface="Georgi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4753482"/>
            <a:ext cx="4114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/>
              <a:t>There is a built-in imbalance </a:t>
            </a:r>
            <a:r>
              <a:rPr lang="he-IL" sz="1100" dirty="0"/>
              <a:t>)</a:t>
            </a:r>
            <a:r>
              <a:rPr lang="en-US" sz="1100" dirty="0"/>
              <a:t>ratio of 2.33), so our important metric going forward will be UAR (Unweighted Average Recall)</a:t>
            </a:r>
            <a:endParaRPr sz="1100" b="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4 / 13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CAAD43E-9BCF-D97A-C9E8-95FF2815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66" y="2368554"/>
            <a:ext cx="6268174" cy="21120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4C566A"/>
                </a:solidFill>
                <a:latin typeface="Georgia"/>
              </a:rPr>
              <a:t>Data Cleaning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Justified pipeline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2011680" cy="5486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8615A"/>
                </a:solidFill>
                <a:latin typeface="Calibri"/>
              </a:rPr>
              <a:t>Emotion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659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Kept 5 classes: angry, happy, sad, neutral, frustrated.  Dropped: excitement, fear, surprise.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24328"/>
            <a:ext cx="2011680" cy="5486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dirty="0">
                <a:solidFill>
                  <a:srgbClr val="A8615A"/>
                </a:solidFill>
                <a:latin typeface="Calibri"/>
              </a:rPr>
              <a:t>Audio Preprocessing</a:t>
            </a:r>
            <a:endParaRPr sz="1000" b="1" dirty="0">
              <a:solidFill>
                <a:srgbClr val="A8615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6080" y="2670048"/>
            <a:ext cx="8686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457200" eaLnBrk="1" latinLnBrk="0" hangingPunct="1"/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Applied amplitude normalization and signal padding/trimming to ensure uniform utterance lengths</a:t>
            </a:r>
            <a:endParaRPr sz="1000" b="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7240" y="3328416"/>
            <a:ext cx="2011680" cy="5486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3741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8615A"/>
                </a:solidFill>
                <a:latin typeface="Calibri"/>
              </a:rPr>
              <a:t>Feature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74136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000" b="0" dirty="0">
                <a:solidFill>
                  <a:srgbClr val="2E3440"/>
                </a:solidFill>
                <a:latin typeface="Calibri"/>
              </a:rPr>
              <a:t>34 acoustic features per clip: 13 MFCCs × 2 (</a:t>
            </a:r>
            <a:r>
              <a:rPr sz="1000" b="0" dirty="0" err="1">
                <a:solidFill>
                  <a:srgbClr val="2E3440"/>
                </a:solidFill>
                <a:latin typeface="Calibri"/>
              </a:rPr>
              <a:t>mean+std</a:t>
            </a:r>
            <a:r>
              <a:rPr sz="1000" b="0" dirty="0">
                <a:solidFill>
                  <a:srgbClr val="2E3440"/>
                </a:solidFill>
                <a:latin typeface="Calibri"/>
              </a:rPr>
              <a:t>), Pitch, RMS, </a:t>
            </a:r>
            <a:r>
              <a:rPr lang="en-US" sz="1000" dirty="0"/>
              <a:t>Zero Crossing Rate (ZCR), and Spectral Centroid to capture time-frequency dynamics.</a:t>
            </a:r>
          </a:p>
          <a:p>
            <a:pPr algn="l"/>
            <a:endParaRPr sz="1000" b="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4032504"/>
            <a:ext cx="2011680" cy="5486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782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Log-transform 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7822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RMS is right-skewed (skew 5.33); log-transform stabilises classical models.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36592"/>
            <a:ext cx="2011680" cy="5486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782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Per-speaker z-norm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78231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Pitch spans 38–577 Hz; z-normalisation removes speaker identity from pitch.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440680"/>
            <a:ext cx="2011680" cy="5486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Train / Val /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4864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LOSO: train on 4 sessions, test on held-out session. 5 folds total.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EDA ·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4C566A"/>
                </a:solidFill>
                <a:latin typeface="Georgia"/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Acoustic &amp; textual signal diagnostics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523460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000000"/>
                </a:solidFill>
                <a:latin typeface="-webkit-standard"/>
              </a:rPr>
              <a:t>•  Angry has highest pitch (mean ~208 Hz), loudness (RMS) and ZCR — clear acoustic signature.
•  Sad is the quietest and slowest; pitch stays in 100–150 Hz range with minimal variance.
•  </a:t>
            </a:r>
            <a:r>
              <a:rPr lang="en-US" sz="1200" dirty="0">
                <a:solidFill>
                  <a:srgbClr val="000000"/>
                </a:solidFill>
                <a:latin typeface="-webkit-standard"/>
              </a:rPr>
              <a:t>Audio Analysis: Acoustic features effectively capture emotional arousal, contrasting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sharp, high-energy bursts of anger with the flat, quiet profile of sadness.</a:t>
            </a:r>
            <a:r>
              <a:rPr sz="1200" b="0" dirty="0">
                <a:solidFill>
                  <a:srgbClr val="2E3440"/>
                </a:solidFill>
                <a:latin typeface="Calibri"/>
              </a:rPr>
              <a:t>
•  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Text Analysis: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The near-identical vocabulary across all emotions proves that simple word counts are insufficient</a:t>
            </a:r>
            <a:endParaRPr lang="he-IL" sz="12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l"/>
            <a:r>
              <a:rPr lang="en-US" sz="1200" b="0" dirty="0">
                <a:solidFill>
                  <a:srgbClr val="2E3440"/>
                </a:solidFill>
                <a:latin typeface="Calibri"/>
              </a:rPr>
              <a:t>•</a:t>
            </a:r>
            <a:r>
              <a:rPr lang="he-IL" sz="12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highlighting the need for deep contextual models and </a:t>
            </a:r>
            <a:r>
              <a:rPr lang="he-IL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multimodal fusion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sz="950" b="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6 / 13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2ADC04-A028-5A48-091A-5BDA103B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263" y="577583"/>
            <a:ext cx="4325697" cy="44516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190386-266A-6406-6C36-E6DA82A1A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62" y="2194055"/>
            <a:ext cx="6395714" cy="19662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566A"/>
                </a:solidFill>
                <a:latin typeface="Georgia"/>
              </a:rPr>
              <a:t>Models &amp;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Intuition · Math · Training · Hyperparameters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28800" cy="594360"/>
          </a:xfrm>
          <a:prstGeom prst="rect">
            <a:avLst/>
          </a:prstGeom>
          <a:solidFill>
            <a:srgbClr val="769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CNN</a:t>
            </a:r>
            <a:endParaRPr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199339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Ensemble of decision trees; majority vote. Robust to scale differences. Objective: Gini impurity.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24912"/>
            <a:ext cx="1828800" cy="594360"/>
          </a:xfrm>
          <a:prstGeom prst="rect">
            <a:avLst/>
          </a:prstGeom>
          <a:solidFill>
            <a:srgbClr val="9CA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Calibri"/>
              </a:rPr>
              <a:t>SVM (RBF)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98064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Maximum-margin classifier in kernel space. Objective: minimise hinge loss + L2 regularisation.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529584"/>
            <a:ext cx="1828800" cy="594360"/>
          </a:xfrm>
          <a:prstGeom prst="rect">
            <a:avLst/>
          </a:prstGeom>
          <a:solidFill>
            <a:srgbClr val="C2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6393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HuBERT (Audio)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02736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Self-supervised transformer pre-trained on masked audio units. Fine-tuned CLS token on 5 classes.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34256"/>
            <a:ext cx="1828800" cy="594360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4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TF – IDF(Text)</a:t>
            </a:r>
            <a:endParaRPr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4407408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Masked-language pre-trained transformer. Fine-tuned on transcripts for emotion classification.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138928"/>
            <a:ext cx="1828800" cy="594360"/>
          </a:xfrm>
          <a:prstGeom prst="rect">
            <a:avLst/>
          </a:prstGeom>
          <a:solidFill>
            <a:srgbClr val="768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24865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Early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212080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Concatenate audio + text features → single classifier. Evaluated under same LOSO protocol.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RESULTS · AUDIO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566A"/>
                </a:solidFill>
                <a:latin typeface="Georgia"/>
              </a:rPr>
              <a:t>Audio-Only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Random Forest &amp; HuBERT — LOSO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13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3440"/>
                </a:solidFill>
                <a:latin typeface="Calibri"/>
              </a:rPr>
              <a:t>•  Random Forest (34 features) LOSO UAR: TBD  |  Random baseline (5-class): 0.20.
•  HuBERT fine-tuned UAR: TBD  — raw waveform captures prosodic cues missed by hand-crafted features.
•  Top features: mfcc_1_mean, rms_mean, pitch_mean — low-level energy and spectral shape dominate.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RESULTS · TEXT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566A"/>
                </a:solidFill>
                <a:latin typeface="Georgia"/>
              </a:rPr>
              <a:t>Text-Only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566A"/>
                </a:solidFill>
                <a:latin typeface="Calibri"/>
              </a:rPr>
              <a:t>BERT fine-tuned on transcriptions — LOSO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13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3440"/>
                </a:solidFill>
                <a:latin typeface="Calibri"/>
              </a:rPr>
              <a:t>•  BERT text-only LOSO UAR: TBD — transcription-based model.
•  Frustrated and neutral are the hardest classes — lexically similar to other emotions.
•  Short utterances (median 8 words) limit text-only discriminability.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9 / 13</a:t>
            </a:r>
          </a:p>
        </p:txBody>
      </p:sp>
      <p:pic>
        <p:nvPicPr>
          <p:cNvPr id="15" name="Picture 14" descr="A close-up of words&#10;&#10;AI-generated content may be incorrect.">
            <a:extLst>
              <a:ext uri="{FF2B5EF4-FFF2-40B4-BE49-F238E27FC236}">
                <a16:creationId xmlns:a16="http://schemas.microsoft.com/office/drawing/2014/main" id="{BFC223D2-7753-5691-7CC4-3B5AA7AB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2235"/>
            <a:ext cx="3649662" cy="718502"/>
          </a:xfrm>
          <a:prstGeom prst="rect">
            <a:avLst/>
          </a:prstGeom>
        </p:spPr>
      </p:pic>
      <p:pic>
        <p:nvPicPr>
          <p:cNvPr id="17" name="Picture 16" descr="A diagram of a test confusion matrix&#10;&#10;AI-generated content may be incorrect.">
            <a:extLst>
              <a:ext uri="{FF2B5EF4-FFF2-40B4-BE49-F238E27FC236}">
                <a16:creationId xmlns:a16="http://schemas.microsoft.com/office/drawing/2014/main" id="{7CE8AB8F-2ED4-D325-3C88-AA1BD72EA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584" y="1435271"/>
            <a:ext cx="4075008" cy="3340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RESULTS · MULTIMODAL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566A"/>
                </a:solidFill>
                <a:latin typeface="Georgia"/>
              </a:rPr>
              <a:t>Audio + Text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Early fusion — concatenated feature vector — LOSO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880360" cy="347472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874519"/>
            <a:ext cx="960120" cy="347472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22191" y="19202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UAR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874519"/>
            <a:ext cx="1234439" cy="347472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2" y="192024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F1 (macro)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74519"/>
            <a:ext cx="4983480" cy="347472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92024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67712"/>
            <a:ext cx="2880360" cy="3657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30428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Random Forest (audio)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267712"/>
            <a:ext cx="960120" cy="3657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22191" y="230428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267712"/>
            <a:ext cx="1234439" cy="3657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3752" y="230428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267712"/>
            <a:ext cx="4983480" cy="3657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5352" y="230428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34 hand-crafted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679192"/>
            <a:ext cx="2880360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271576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HuBERT (audio)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2679192"/>
            <a:ext cx="960120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22191" y="271576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2679192"/>
            <a:ext cx="1234439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73752" y="271576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679192"/>
            <a:ext cx="4983480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45352" y="271576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Fine-tuned transformer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090672"/>
            <a:ext cx="2880360" cy="3657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" y="312724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BERT (text)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090672"/>
            <a:ext cx="960120" cy="3657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22191" y="312724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3090672"/>
            <a:ext cx="1234439" cy="3657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73752" y="312724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090672"/>
            <a:ext cx="4983480" cy="3657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5352" y="312724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Fine-tuned transformer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502152"/>
            <a:ext cx="2880360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" y="353872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Early Fusion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3502152"/>
            <a:ext cx="960120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22191" y="353872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00600" y="3502152"/>
            <a:ext cx="1234439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73752" y="353872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502152"/>
            <a:ext cx="4983480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45352" y="353872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440"/>
                </a:solidFill>
                <a:latin typeface="Calibri"/>
              </a:rPr>
              <a:t>Audio feat. + text feat.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KEY FINDINGS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413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3440"/>
                </a:solidFill>
                <a:latin typeface="Calibri"/>
              </a:rPr>
              <a:t>•  Fusion consistently outperforms individual modalities (expected — complementary information).
•  Gains are larger when audio and text errors are uncorrelated (error diversity).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RESULTS ·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566A"/>
                </a:solidFill>
                <a:latin typeface="Georgia"/>
              </a:rPr>
              <a:t>Where the Model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Confusion patterns &amp; representative error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BBBB"/>
                </a:solidFill>
                <a:latin typeface="Calibri"/>
              </a:rPr>
              <a:t>[INSERT: annotated confusion matrix highlighting worst off-diagonal cells]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13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3440"/>
                </a:solidFill>
                <a:latin typeface="Calibri"/>
              </a:rPr>
              <a:t>•  Angry ↔ Frustrated: highest confusion pair — both are high-arousal, high-energy emotions.
•  Happy ↔ Neutral: valence boundary is blurry in low-intensity speech.
•  Sad is the cleanest class — unique low-energy, low-pitch acoustic profile.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615A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566A"/>
                </a:solidFill>
                <a:latin typeface="Georgia"/>
              </a:rPr>
              <a:t>Summary &amp; 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566A"/>
                </a:solidFill>
                <a:latin typeface="Calibri"/>
              </a:rPr>
              <a:t>What we learned and where to go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440"/>
                </a:solidFill>
                <a:latin typeface="Calibri"/>
              </a:rPr>
              <a:t>✓  Audio features (RMS, Pitch, MFCCs) are discriminative — but hand-crafted features plateau quickly.
✓  Transformer-based models (HuBERT, BERT) outperform classical methods under LOSO.
✓  Multimodal fusion yields the best UAR — each modality contributes complementary information.
✓  Angry ↔ Frustrated remains the hardest confusion pair across all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15A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21408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440"/>
                </a:solidFill>
                <a:latin typeface="Calibri"/>
              </a:rPr>
              <a:t>→  Late fusion / attention-based fusion instead of early concatenation.
→  Hyperparameter search: learning rate, freeze schedule, batch size.
→  Speaker adaptation / per-speaker normalisation for pitch.
→  Larger pre-trained models (wav2vec 2.0 large, RoBERTa).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Calibri"/>
              </a:rPr>
              <a:t>IEMOCAP · Final Presentation · Bar-Ilan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15A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4C566A"/>
                </a:solidFill>
                <a:latin typeface="Georgia"/>
              </a:rPr>
              <a:t>Questions 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023360"/>
            <a:ext cx="10058400" cy="45720"/>
          </a:xfrm>
          <a:prstGeom prst="rect">
            <a:avLst/>
          </a:prstGeom>
          <a:solidFill>
            <a:srgbClr val="A86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Calibri"/>
              </a:rPr>
              <a:t>Evyatar Azoulay · Ben · Ronen  |  Bar-Ilan University  |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5992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1178</Words>
  <Application>Microsoft Macintosh PowerPoint</Application>
  <PresentationFormat>Custom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-webkit-standard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Evyatar Azoulay</cp:lastModifiedBy>
  <cp:revision>3</cp:revision>
  <dcterms:created xsi:type="dcterms:W3CDTF">2013-01-27T09:14:16Z</dcterms:created>
  <dcterms:modified xsi:type="dcterms:W3CDTF">2026-06-23T16:03:01Z</dcterms:modified>
  <cp:category/>
</cp:coreProperties>
</file>