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24"/>
    <p:restoredTop sz="94583"/>
  </p:normalViewPr>
  <p:slideViewPr>
    <p:cSldViewPr snapToGrid="0" snapToObjects="1">
      <p:cViewPr>
        <p:scale>
          <a:sx n="105" d="100"/>
          <a:sy n="105" d="100"/>
        </p:scale>
        <p:origin x="976" y="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C5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25935" y="0"/>
            <a:ext cx="365760" cy="6858000"/>
          </a:xfrm>
          <a:prstGeom prst="rect">
            <a:avLst/>
          </a:prstGeom>
          <a:solidFill>
            <a:srgbClr val="A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0424160" cy="530352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80160" y="1280160"/>
            <a:ext cx="9144000" cy="1987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lnSpc>
                <a:spcPct val="115000"/>
              </a:lnSpc>
              <a:defRPr sz="1200" b="1" i="0">
                <a:solidFill>
                  <a:srgbClr val="A8615A"/>
                </a:solidFill>
                <a:latin typeface="Calibri"/>
              </a:defRPr>
            </a:lvl1pPr>
          </a:lstStyle>
          <a:p>
            <a:r>
              <a:rPr dirty="0"/>
              <a:t>SPRINT </a:t>
            </a:r>
            <a:r>
              <a:rPr lang="he-IL" dirty="0"/>
              <a:t>2</a:t>
            </a:r>
            <a:r>
              <a:rPr dirty="0"/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645920"/>
            <a:ext cx="93268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4C566A"/>
                </a:solidFill>
                <a:latin typeface="Georgia"/>
              </a:rPr>
              <a:t>Speech Emotion Recognition</a:t>
            </a:r>
          </a:p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4C566A"/>
                </a:solidFill>
                <a:latin typeface="Georgia"/>
              </a:rPr>
              <a:t>on the IEMOCAP Corpus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303520"/>
            <a:ext cx="9144000" cy="199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1" i="0" dirty="0">
                <a:solidFill>
                  <a:srgbClr val="4C566A"/>
                </a:solidFill>
                <a:latin typeface="Calibri"/>
              </a:rPr>
              <a:t>Bar-Ilan University </a:t>
            </a:r>
            <a:r>
              <a:rPr sz="1200" b="1" i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· </a:t>
            </a: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Ben </a:t>
            </a:r>
            <a:r>
              <a:rPr lang="en-US" sz="1200" b="1" dirty="0" err="1">
                <a:solidFill>
                  <a:schemeClr val="accent2">
                    <a:lumMod val="50000"/>
                  </a:schemeClr>
                </a:solidFill>
                <a:latin typeface="Calibri"/>
              </a:rPr>
              <a:t>Shakarof</a:t>
            </a: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 </a:t>
            </a:r>
            <a:r>
              <a:rPr lang="en-IL" sz="1200" b="1" dirty="0">
                <a:solidFill>
                  <a:schemeClr val="accent2">
                    <a:lumMod val="50000"/>
                  </a:schemeClr>
                </a:solidFill>
              </a:rPr>
              <a:t>· Evyatar Azoulay · Ronen Hristoforov</a:t>
            </a: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 </a:t>
            </a:r>
            <a:endParaRPr sz="1200" b="1" i="0" dirty="0">
              <a:solidFill>
                <a:schemeClr val="accent2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A6A169-BC21-109A-5309-D871B5F88FDB}"/>
              </a:ext>
            </a:extLst>
          </p:cNvPr>
          <p:cNvSpPr txBox="1"/>
          <p:nvPr/>
        </p:nvSpPr>
        <p:spPr>
          <a:xfrm>
            <a:off x="1036320" y="3105388"/>
            <a:ext cx="26565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r" defTabSz="457200" rtl="1" eaLnBrk="1" latinLnBrk="0" hangingPunct="1"/>
            <a:r>
              <a:rPr lang="en-US" b="1" dirty="0">
                <a:solidFill>
                  <a:srgbClr val="A8615A"/>
                </a:solidFill>
                <a:latin typeface="Calibri"/>
              </a:rPr>
              <a:t>sprint 2 Progress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-webkit-standard"/>
              </a:rPr>
              <a:t> 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A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8615A"/>
                </a:solidFill>
                <a:latin typeface="Calibri"/>
              </a:rPr>
              <a:t>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463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2800" b="1" dirty="0">
                <a:solidFill>
                  <a:srgbClr val="4C566A"/>
                </a:solidFill>
                <a:latin typeface="Georgia"/>
              </a:rPr>
              <a:t>Addressing Feedback &amp; Updated EDA</a:t>
            </a:r>
            <a:endParaRPr sz="2800" b="1" dirty="0">
              <a:solidFill>
                <a:srgbClr val="4C566A"/>
              </a:solidFill>
              <a:latin typeface="Georg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9144000" cy="149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dirty="0">
                <a:solidFill>
                  <a:srgbClr val="808080"/>
                </a:solidFill>
                <a:latin typeface="Calibri"/>
              </a:rPr>
              <a:t>IEMOCAP · Sprint </a:t>
            </a:r>
            <a:r>
              <a:rPr lang="en-US" sz="900" b="0" i="0" dirty="0">
                <a:solidFill>
                  <a:srgbClr val="808080"/>
                </a:solidFill>
                <a:latin typeface="Calibri"/>
              </a:rPr>
              <a:t>2</a:t>
            </a:r>
            <a:r>
              <a:rPr sz="900" b="0" i="0" dirty="0">
                <a:solidFill>
                  <a:srgbClr val="808080"/>
                </a:solidFill>
                <a:latin typeface="Calibri"/>
              </a:rPr>
              <a:t> · Bar-Ilan University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1616054"/>
            <a:ext cx="10058400" cy="15740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lnSpc>
                <a:spcPct val="115000"/>
              </a:lnSpc>
              <a:buFontTx/>
              <a:buChar char="-"/>
            </a:pPr>
            <a:r>
              <a:rPr lang="en-US" b="1" i="0" dirty="0">
                <a:solidFill>
                  <a:srgbClr val="000000"/>
                </a:solidFill>
                <a:effectLst/>
              </a:rPr>
              <a:t>Reintroducing 'Frustrated':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Based on feedback and the large sample volume, we restored the 'Frustrated' class.</a:t>
            </a:r>
          </a:p>
          <a:p>
            <a:pPr marL="171450" indent="-171450" algn="l">
              <a:lnSpc>
                <a:spcPct val="115000"/>
              </a:lnSpc>
              <a:buFontTx/>
              <a:buChar char="-"/>
            </a:pPr>
            <a:r>
              <a:rPr lang="en-US" b="1" i="0" dirty="0">
                <a:solidFill>
                  <a:srgbClr val="000000"/>
                </a:solidFill>
                <a:effectLst/>
              </a:rPr>
              <a:t>5-Class Target: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We are now classifying across 5 emotions: Neutral, Sad, Angry, Happy, and Frustrated.</a:t>
            </a:r>
          </a:p>
          <a:p>
            <a:pPr marL="171450" indent="-171450">
              <a:lnSpc>
                <a:spcPct val="115000"/>
              </a:lnSpc>
              <a:buFontTx/>
              <a:buChar char="-"/>
            </a:pPr>
            <a:r>
              <a:rPr lang="en-US" b="1" dirty="0">
                <a:solidFill>
                  <a:srgbClr val="000000"/>
                </a:solidFill>
              </a:rPr>
              <a:t>1 </a:t>
            </a:r>
            <a:r>
              <a:rPr lang="en-US" b="1" i="0" dirty="0">
                <a:solidFill>
                  <a:srgbClr val="000000"/>
                </a:solidFill>
                <a:effectLst/>
              </a:rPr>
              <a:t>Extended EDA: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Generated correlation matrices to thoroughly analyze feature relationships and dependencies.</a:t>
            </a:r>
            <a:endParaRPr b="0" i="1" dirty="0">
              <a:solidFill>
                <a:srgbClr val="808080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1368735" y="653796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08080"/>
                </a:solidFill>
                <a:latin typeface="Calibri"/>
              </a:rPr>
              <a:t>2 / 10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001FAEC4-798F-CCCC-C30B-BBF321B20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2448" y="3628986"/>
            <a:ext cx="4604963" cy="281753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C6C5710-6FD6-7260-867C-569563FAB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4" y="3417151"/>
            <a:ext cx="5813468" cy="160233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BB94609D-52FF-965C-6851-9C5C15B78E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088068"/>
            <a:ext cx="5933252" cy="13127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A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8615A"/>
                </a:solidFill>
                <a:latin typeface="Calibri"/>
              </a:rPr>
              <a:t>EDA · DISTRIBUTIONS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05305"/>
            <a:ext cx="10972800" cy="463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2800" b="1" dirty="0">
                <a:solidFill>
                  <a:srgbClr val="4C566A"/>
                </a:solidFill>
                <a:latin typeface="Georgia"/>
              </a:rPr>
              <a:t>Textual Modality (NLP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)</a:t>
            </a:r>
            <a:endParaRPr sz="2800" b="1" i="0" dirty="0">
              <a:solidFill>
                <a:srgbClr val="4C566A"/>
              </a:solidFill>
              <a:latin typeface="Georg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9144000" cy="149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dirty="0">
                <a:solidFill>
                  <a:srgbClr val="808080"/>
                </a:solidFill>
                <a:latin typeface="Calibri"/>
              </a:rPr>
              <a:t>IEMOCAP · Sprint </a:t>
            </a:r>
            <a:r>
              <a:rPr lang="en-US" sz="900" b="0" i="0" dirty="0">
                <a:solidFill>
                  <a:srgbClr val="808080"/>
                </a:solidFill>
                <a:latin typeface="Calibri"/>
              </a:rPr>
              <a:t>2</a:t>
            </a:r>
            <a:r>
              <a:rPr sz="900" b="0" i="0" dirty="0">
                <a:solidFill>
                  <a:srgbClr val="808080"/>
                </a:solidFill>
                <a:latin typeface="Calibri"/>
              </a:rPr>
              <a:t>· Bar-Ilan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029200"/>
            <a:ext cx="11247120" cy="150876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6636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dirty="0">
                <a:solidFill>
                  <a:srgbClr val="A8615A"/>
                </a:solidFill>
                <a:latin typeface="Calibri"/>
              </a:rPr>
              <a:t>KEY 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459751"/>
            <a:ext cx="1078992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A8615A"/>
                </a:solidFill>
                <a:latin typeface="Calibri"/>
              </a:rPr>
              <a:t>-  </a:t>
            </a:r>
            <a:r>
              <a:rPr lang="en-US" sz="1600" b="1" dirty="0"/>
              <a:t>Transcription:</a:t>
            </a:r>
            <a:r>
              <a:rPr lang="en-US" sz="1600" dirty="0"/>
              <a:t> Converted audio recordings into text transcripts by </a:t>
            </a:r>
            <a:r>
              <a:rPr lang="en-US" sz="1600" dirty="0" err="1"/>
              <a:t>wisper</a:t>
            </a:r>
            <a:r>
              <a:rPr lang="en-US" sz="1600" dirty="0"/>
              <a:t>.</a:t>
            </a:r>
          </a:p>
          <a:p>
            <a:pPr>
              <a:buNone/>
            </a:pPr>
            <a:r>
              <a:rPr lang="en-US" sz="1600" b="1" dirty="0"/>
              <a:t>-  Feature Extraction:</a:t>
            </a:r>
            <a:r>
              <a:rPr lang="en-US" sz="1600" dirty="0"/>
              <a:t> Applied TF-IDF (Term Frequency-Inverse Document Frequency) to assign weights to significant words.</a:t>
            </a:r>
          </a:p>
          <a:p>
            <a:r>
              <a:rPr lang="en-US" sz="1600" b="1" dirty="0"/>
              <a:t>- </a:t>
            </a:r>
            <a:r>
              <a:rPr lang="en-US" sz="1600" dirty="0"/>
              <a:t> </a:t>
            </a:r>
            <a:r>
              <a:rPr lang="en-US" sz="1600" b="1" dirty="0"/>
              <a:t>Initial Results:</a:t>
            </a:r>
            <a:r>
              <a:rPr lang="en-US" sz="1600" dirty="0"/>
              <a:t> The text-based classification model achieved approximately 45.5% accuracy.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8735" y="653796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08080"/>
                </a:solidFill>
                <a:latin typeface="Calibri"/>
              </a:rPr>
              <a:t>4 / 10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3C14704-65AB-4CA6-644D-ECF143E81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4164" y="1945151"/>
            <a:ext cx="3392967" cy="72033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8551718-9784-EFF9-2981-D3232CFF12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596" b="9649"/>
          <a:stretch/>
        </p:blipFill>
        <p:spPr>
          <a:xfrm>
            <a:off x="8485236" y="2988424"/>
            <a:ext cx="3421896" cy="63488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5BD66D2-6CCA-48D6-0B89-5A82F39F0B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272" y="1691640"/>
            <a:ext cx="7772400" cy="23948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effectLst/>
                <a:latin typeface="Helvetica" pitchFamily="2" charset="0"/>
              </a:rPr>
              <a:t>Train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A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463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2800" b="1" dirty="0">
                <a:solidFill>
                  <a:srgbClr val="4C566A"/>
                </a:solidFill>
                <a:latin typeface="Georgia"/>
              </a:rPr>
              <a:t>Audio-Visual Modality – Spectrograms &amp; CNN</a:t>
            </a:r>
            <a:endParaRPr sz="2800" b="1" dirty="0">
              <a:solidFill>
                <a:srgbClr val="4C566A"/>
              </a:solidFill>
              <a:latin typeface="Georg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9144000" cy="149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dirty="0">
                <a:solidFill>
                  <a:srgbClr val="808080"/>
                </a:solidFill>
                <a:latin typeface="Calibri"/>
              </a:rPr>
              <a:t>IEMOCAP · Sprint </a:t>
            </a:r>
            <a:r>
              <a:rPr lang="en-US" sz="900" b="0" i="0" dirty="0">
                <a:solidFill>
                  <a:srgbClr val="808080"/>
                </a:solidFill>
                <a:latin typeface="Calibri"/>
              </a:rPr>
              <a:t>2</a:t>
            </a:r>
            <a:r>
              <a:rPr sz="900" b="0" i="0" dirty="0">
                <a:solidFill>
                  <a:srgbClr val="808080"/>
                </a:solidFill>
                <a:latin typeface="Calibri"/>
              </a:rPr>
              <a:t>· Bar-Ilan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846320"/>
            <a:ext cx="11247120" cy="169164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8615A"/>
                </a:solidFill>
                <a:latin typeface="Calibri"/>
              </a:rPr>
              <a:t>KEY 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212080"/>
            <a:ext cx="10789920" cy="1137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 dirty="0">
                <a:solidFill>
                  <a:srgbClr val="A8615A"/>
                </a:solidFill>
                <a:latin typeface="Calibri"/>
              </a:rPr>
              <a:t>•  </a:t>
            </a:r>
            <a:r>
              <a:rPr lang="en-US" sz="1200" b="1" i="0" dirty="0">
                <a:solidFill>
                  <a:srgbClr val="000000"/>
                </a:solidFill>
                <a:effectLst/>
              </a:rPr>
              <a:t>Data Transformation: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Converted audio files into spectrograms (frequency heatmaps).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en-US" sz="1200" b="1" dirty="0">
                <a:solidFill>
                  <a:srgbClr val="A8615A"/>
                </a:solidFill>
                <a:latin typeface="Calibri"/>
              </a:rPr>
              <a:t>•</a:t>
            </a:r>
            <a:r>
              <a:rPr lang="en-US" sz="1200" b="1" i="0" dirty="0">
                <a:solidFill>
                  <a:srgbClr val="000000"/>
                </a:solidFill>
                <a:effectLst/>
              </a:rPr>
              <a:t> Model Architecture: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Trained a Convolutional Neural Network (CNN) to extract emotional features from these images.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en-US" sz="1200" b="1" dirty="0">
                <a:solidFill>
                  <a:srgbClr val="A8615A"/>
                </a:solidFill>
                <a:latin typeface="Calibri"/>
              </a:rPr>
              <a:t>•</a:t>
            </a:r>
            <a:r>
              <a:rPr lang="en-US" sz="1200" b="1" i="0" dirty="0">
                <a:solidFill>
                  <a:srgbClr val="000000"/>
                </a:solidFill>
                <a:effectLst/>
              </a:rPr>
              <a:t> Evaluation &amp; Accuracy: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Monitored the training process to prevent overfitting; achieved 42.21% accuracy, matching the textual baseline.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en-US" sz="1200" b="1" dirty="0">
                <a:solidFill>
                  <a:srgbClr val="A8615A"/>
                </a:solidFill>
                <a:latin typeface="Calibri"/>
              </a:rPr>
              <a:t>•overfitting</a:t>
            </a:r>
            <a:endParaRPr lang="en-US" sz="1200" dirty="0">
              <a:solidFill>
                <a:srgbClr val="2E3440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368735" y="653796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08080"/>
                </a:solidFill>
                <a:latin typeface="Calibri"/>
              </a:rPr>
              <a:t>5 / 10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576CC02-A23A-AEA9-D3EE-C563CAF90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3090" y="1307266"/>
            <a:ext cx="2978150" cy="3378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3BDC1CF-AF53-9BB0-A06E-6050DEBB2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3364351"/>
            <a:ext cx="2243937" cy="132522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3108C9C-80AF-07A9-2572-4955E2F8F9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14302"/>
            <a:ext cx="5520690" cy="19874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A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397478"/>
            <a:ext cx="10972800" cy="463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2800" b="1" dirty="0">
                <a:solidFill>
                  <a:srgbClr val="4C566A"/>
                </a:solidFill>
                <a:latin typeface="Georgia"/>
              </a:rPr>
              <a:t>Raw Audio Signal Processing (Work in Progress)</a:t>
            </a:r>
            <a:endParaRPr sz="2800" b="1" dirty="0">
              <a:solidFill>
                <a:srgbClr val="4C566A"/>
              </a:solidFill>
              <a:latin typeface="Georgia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4937760"/>
            <a:ext cx="11247120" cy="160020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507492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8615A"/>
                </a:solidFill>
                <a:latin typeface="Calibri"/>
              </a:rPr>
              <a:t>KEY FINDINGS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415" y="5291018"/>
            <a:ext cx="10789920" cy="12926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</a:pPr>
            <a:r>
              <a:rPr lang="en-US" sz="1400" b="1" dirty="0">
                <a:latin typeface="David" panose="020E0502060401010101" pitchFamily="34" charset="-79"/>
                <a:cs typeface="David" panose="020E0502060401010101" pitchFamily="34" charset="-79"/>
              </a:rPr>
              <a:t>1.⁠ ⁠</a:t>
            </a:r>
            <a:r>
              <a:rPr lang="en-US" sz="1400" dirty="0">
                <a:latin typeface="David" panose="020E0502060401010101" pitchFamily="34" charset="-79"/>
                <a:cs typeface="David" panose="020E0502060401010101" pitchFamily="34" charset="-79"/>
              </a:rPr>
              <a:t>*Audio vs. Text Baseline Comparison:* The </a:t>
            </a:r>
            <a:r>
              <a:rPr lang="en-US" sz="1400" dirty="0" err="1">
                <a:latin typeface="David" panose="020E0502060401010101" pitchFamily="34" charset="-79"/>
                <a:cs typeface="David" panose="020E0502060401010101" pitchFamily="34" charset="-79"/>
              </a:rPr>
              <a:t>HuBERT</a:t>
            </a:r>
            <a:r>
              <a:rPr lang="en-US" sz="1400" dirty="0">
                <a:latin typeface="David" panose="020E0502060401010101" pitchFamily="34" charset="-79"/>
                <a:cs typeface="David" panose="020E0502060401010101" pitchFamily="34" charset="-79"/>
              </a:rPr>
              <a:t> audio model outperformed the text-only baseline (UAR 0.558 vs. 0.455), demonstrating that speech signals contain important emotional information beyond transcript content.</a:t>
            </a:r>
          </a:p>
          <a:p>
            <a:pPr>
              <a:buNone/>
            </a:pPr>
            <a:r>
              <a:rPr lang="en-US" sz="1400" b="1" dirty="0">
                <a:latin typeface="David" panose="020E0502060401010101" pitchFamily="34" charset="-79"/>
                <a:cs typeface="David" panose="020E0502060401010101" pitchFamily="34" charset="-79"/>
              </a:rPr>
              <a:t>2.⁠ ⁠</a:t>
            </a:r>
            <a:r>
              <a:rPr lang="en-US" sz="1400" dirty="0">
                <a:latin typeface="David" panose="020E0502060401010101" pitchFamily="34" charset="-79"/>
                <a:cs typeface="David" panose="020E0502060401010101" pitchFamily="34" charset="-79"/>
              </a:rPr>
              <a:t>*Training Curves:* The model learned effectively during training, while early stopping prevented overfitting by selecting the best-performing checkpoint based on validation performance.</a:t>
            </a:r>
          </a:p>
          <a:p>
            <a:pPr>
              <a:buNone/>
            </a:pPr>
            <a:r>
              <a:rPr lang="en-US" sz="1400" b="1" dirty="0">
                <a:latin typeface="David" panose="020E0502060401010101" pitchFamily="34" charset="-79"/>
                <a:cs typeface="David" panose="020E0502060401010101" pitchFamily="34" charset="-79"/>
              </a:rPr>
              <a:t>3.⁠ ⁠</a:t>
            </a:r>
            <a:r>
              <a:rPr lang="en-US" sz="1400" dirty="0">
                <a:latin typeface="David" panose="020E0502060401010101" pitchFamily="34" charset="-79"/>
                <a:cs typeface="David" panose="020E0502060401010101" pitchFamily="34" charset="-79"/>
              </a:rPr>
              <a:t>*Confusion Matrix:* The model recognized Angry and Sad emotions most accurately, while Frustrated remained the most difficult class due to its acoustic similarity to other emotions such as Angry and Neutral.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68735" y="653796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08080"/>
                </a:solidFill>
                <a:latin typeface="Calibri"/>
              </a:rPr>
              <a:t>6 / 10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6D48E8F-0739-8886-40C2-8D4A84822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810" y="998548"/>
            <a:ext cx="5116525" cy="215533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F467C51-CF4C-8BBE-BACE-2F76F54E0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048" y="1061667"/>
            <a:ext cx="5165968" cy="209221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984B27F-4A2F-74A7-7996-0D60773CF4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7737" y="3354163"/>
            <a:ext cx="5116526" cy="14006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A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417269"/>
            <a:ext cx="10972800" cy="463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2800" b="1" dirty="0">
                <a:solidFill>
                  <a:srgbClr val="4C566A"/>
                </a:solidFill>
                <a:latin typeface="Georgia"/>
              </a:rPr>
              <a:t>Workflow &amp; Git Collaboration</a:t>
            </a:r>
            <a:endParaRPr sz="2800" b="1" dirty="0">
              <a:solidFill>
                <a:srgbClr val="4C566A"/>
              </a:solidFill>
              <a:latin typeface="Georg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9144000" cy="149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dirty="0">
                <a:solidFill>
                  <a:srgbClr val="808080"/>
                </a:solidFill>
                <a:latin typeface="Calibri"/>
              </a:rPr>
              <a:t>IEMOCAP · Sprint </a:t>
            </a:r>
            <a:r>
              <a:rPr lang="en-US" sz="900" b="0" i="0" dirty="0">
                <a:solidFill>
                  <a:srgbClr val="808080"/>
                </a:solidFill>
                <a:latin typeface="Calibri"/>
              </a:rPr>
              <a:t>2</a:t>
            </a:r>
            <a:r>
              <a:rPr sz="900" b="0" i="0" dirty="0">
                <a:solidFill>
                  <a:srgbClr val="808080"/>
                </a:solidFill>
                <a:latin typeface="Calibri"/>
              </a:rPr>
              <a:t>· Bar-Ilan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415" y="1544672"/>
            <a:ext cx="10789920" cy="830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</a:pPr>
            <a:r>
              <a:rPr lang="en-US" b="1" dirty="0"/>
              <a:t>- Parallel Development:</a:t>
            </a:r>
            <a:r>
              <a:rPr lang="en-US" dirty="0"/>
              <a:t> Managed simultaneous work on different models using Git.</a:t>
            </a:r>
          </a:p>
          <a:p>
            <a:pPr>
              <a:buNone/>
            </a:pPr>
            <a:r>
              <a:rPr lang="en-US" b="1" dirty="0"/>
              <a:t>- Branching Strategy:</a:t>
            </a:r>
            <a:r>
              <a:rPr lang="en-US" dirty="0"/>
              <a:t> Created dedicated branches for specific tasks (e.g., text model branch, CNN branch).</a:t>
            </a:r>
          </a:p>
          <a:p>
            <a:r>
              <a:rPr lang="en-US" b="1" dirty="0"/>
              <a:t>- Version Control:</a:t>
            </a:r>
            <a:r>
              <a:rPr lang="en-US" dirty="0"/>
              <a:t> Conducted structured merges to prevent code overrides and ensure smooth integration.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8735" y="653796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08080"/>
                </a:solidFill>
                <a:latin typeface="Calibri"/>
              </a:rPr>
              <a:t>7 / 10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4C681ED-C284-1C6E-FE25-8FC4F63D0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912" y="2600224"/>
            <a:ext cx="4983480" cy="371318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C634019-A417-D6C8-BAC2-F50CE8A22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114" y="2703964"/>
            <a:ext cx="5594957" cy="35567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A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436615"/>
            <a:ext cx="10972800" cy="463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2800" b="1" dirty="0">
                <a:solidFill>
                  <a:srgbClr val="4C566A"/>
                </a:solidFill>
                <a:latin typeface="Georgia"/>
              </a:rPr>
              <a:t>Next Steps &amp; Task Allocation</a:t>
            </a:r>
            <a:endParaRPr sz="2800" b="1" dirty="0">
              <a:solidFill>
                <a:srgbClr val="4C566A"/>
              </a:solidFill>
              <a:latin typeface="Georg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9144000" cy="149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dirty="0">
                <a:solidFill>
                  <a:srgbClr val="808080"/>
                </a:solidFill>
                <a:latin typeface="Calibri"/>
              </a:rPr>
              <a:t>IEMOCAP · Sprint </a:t>
            </a:r>
            <a:r>
              <a:rPr lang="en-US" sz="900" b="0" i="0" dirty="0">
                <a:solidFill>
                  <a:srgbClr val="808080"/>
                </a:solidFill>
                <a:latin typeface="Calibri"/>
              </a:rPr>
              <a:t>2</a:t>
            </a:r>
            <a:r>
              <a:rPr sz="900" b="0" i="0" dirty="0">
                <a:solidFill>
                  <a:srgbClr val="808080"/>
                </a:solidFill>
                <a:latin typeface="Calibri"/>
              </a:rPr>
              <a:t>· Bar-Ilan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1531620" y="4572000"/>
            <a:ext cx="2788920" cy="139446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 dirty="0">
                <a:solidFill>
                  <a:srgbClr val="000000"/>
                </a:solidFill>
                <a:effectLst/>
              </a:rPr>
              <a:t>Ronen: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Finalize raw signal processing runs and evaluate raw audio model performance.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4411980" y="4572000"/>
            <a:ext cx="2788920" cy="139446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</a:rPr>
              <a:t>Evyatar</a:t>
            </a:r>
            <a:r>
              <a:rPr lang="en-US" b="1" i="0" dirty="0">
                <a:solidFill>
                  <a:srgbClr val="000000"/>
                </a:solidFill>
                <a:effectLst/>
              </a:rPr>
              <a:t>: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Research and implement early/late fusion techniques (Ensemble) to combine Text and CNN models.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7292340" y="4572000"/>
            <a:ext cx="2788920" cy="139446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</a:rPr>
              <a:t>Ben</a:t>
            </a:r>
            <a:r>
              <a:rPr lang="en-US" b="1" i="0" dirty="0">
                <a:solidFill>
                  <a:srgbClr val="000000"/>
                </a:solidFill>
                <a:effectLst/>
              </a:rPr>
              <a:t>: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Perform hyperparameter tuning and model optimization to push accuracy beyond the 50% baseline.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1368735" y="653796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08080"/>
                </a:solidFill>
                <a:latin typeface="Calibri"/>
              </a:rPr>
              <a:t>8 / 10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5182081-474C-FDFF-6F93-DE15CB762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991" y="1082294"/>
            <a:ext cx="5914898" cy="30368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493</Words>
  <Application>Microsoft Macintosh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-webkit-standard</vt:lpstr>
      <vt:lpstr>Arial</vt:lpstr>
      <vt:lpstr>Calibri</vt:lpstr>
      <vt:lpstr>David</vt:lpstr>
      <vt:lpstr>Georgia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Evyatar Azoulay</cp:lastModifiedBy>
  <cp:revision>11</cp:revision>
  <dcterms:created xsi:type="dcterms:W3CDTF">2013-01-27T09:14:16Z</dcterms:created>
  <dcterms:modified xsi:type="dcterms:W3CDTF">2026-06-11T11:55:03Z</dcterms:modified>
  <cp:category/>
</cp:coreProperties>
</file>